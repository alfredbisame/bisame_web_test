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5" autoAdjust="0"/>
    <p:restoredTop sz="94660"/>
  </p:normalViewPr>
  <p:slideViewPr>
    <p:cSldViewPr snapToGrid="0">
      <p:cViewPr>
        <p:scale>
          <a:sx n="59" d="100"/>
          <a:sy n="59" d="100"/>
        </p:scale>
        <p:origin x="2916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479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732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94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85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639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56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32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284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773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16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02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0799B-D6CA-4B9B-BB35-CA685ACC7764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73D02-E074-417D-9364-41127B5DCA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957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02129"/>
            <a:ext cx="9144000" cy="1012371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NAMES: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28901"/>
            <a:ext cx="9144000" cy="4343400"/>
          </a:xfrm>
        </p:spPr>
        <p:txBody>
          <a:bodyPr>
            <a:no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MENSAH CHARITY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DORCAS ACHEAMPONG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AMESRO ADWOA PAULA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OSMAN BAMBA AISHATU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PRINCE K MENSAH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BEATRICE BORTELEY ALAVANYO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IRENE OTI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KWAW OLIVIA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BEATRICE ATSWEI TAWIAH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721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Integrative Informatics Model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and Key Concepts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4" y="1534886"/>
            <a:ext cx="11609615" cy="5078185"/>
          </a:xfrm>
        </p:spPr>
        <p:txBody>
          <a:bodyPr>
            <a:normAutofit/>
          </a:bodyPr>
          <a:lstStyle/>
          <a:p>
            <a:pPr lvl="0"/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Younesi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Hofmann-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Apitius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(2013), </a:t>
            </a:r>
            <a:r>
              <a:rPr lang="en-GB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integrative disease </a:t>
            </a:r>
            <a:r>
              <a:rPr lang="en-GB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“a knowledge-based paradigm in translational research that exploits the power of computational methods to collect, store, integrate, model and interpret accumulated disease information across different biological scales from molecules to phenotypes.” </a:t>
            </a:r>
            <a:endParaRPr lang="en-GB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GB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health informatics model includes three essential parts: </a:t>
            </a: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often represented in a hierarchy: data → information → knowledge. </a:t>
            </a:r>
            <a:endParaRPr lang="en-GB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GB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a domain‐specific integrative model is the </a:t>
            </a:r>
            <a:r>
              <a:rPr lang="en-GB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Integrative Model of E-Health Use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connects social‐level disparities at the population level with individual‐level characteristics (motivation, ability, information efficacy) to explain differential use of online health information.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065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/ Levels of Integration</a:t>
            </a:r>
            <a:r>
              <a:rPr lang="en-GB" b="1" dirty="0"/>
              <a:t/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55086" cy="4885418"/>
          </a:xfrm>
        </p:spPr>
        <p:txBody>
          <a:bodyPr>
            <a:normAutofit/>
          </a:bodyPr>
          <a:lstStyle/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integration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Combining data of the same type from different sources (e.g. multiple hospitals’ EMRs).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integration (multi-scale)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Combining data across biological or system scales—molecular, cellular, organ, organism, environmental.  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 integration / multimodal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Different data modalities, e.g. textual, imaging, genomic, sensor data.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integration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Longitudinal data, tracking over time, evolving disease dynamics or treatment trajectories.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integration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Combining data + computational models + domain knowledge + user feedback.</a:t>
            </a:r>
          </a:p>
          <a:p>
            <a:endParaRPr lang="en-GB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68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014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Integrative informatics models are being applied in many domains. Here are some examples: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355271"/>
            <a:ext cx="11070771" cy="537210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GB" b="1" dirty="0"/>
              <a:t>Personalized / precision medicine / P4 medicine</a:t>
            </a:r>
            <a:r>
              <a:rPr lang="en-GB" dirty="0"/>
              <a:t>: </a:t>
            </a:r>
            <a:r>
              <a:rPr lang="en-GB" dirty="0" err="1"/>
              <a:t>Younesi</a:t>
            </a:r>
            <a:r>
              <a:rPr lang="en-GB" dirty="0"/>
              <a:t> &amp; Hofmann-</a:t>
            </a:r>
            <a:r>
              <a:rPr lang="en-GB" dirty="0" err="1"/>
              <a:t>Apitius</a:t>
            </a:r>
            <a:r>
              <a:rPr lang="en-GB" dirty="0"/>
              <a:t> (2013) argue that for predictive, preventive, personalized, and participatory medicine, integrative disease </a:t>
            </a:r>
            <a:r>
              <a:rPr lang="en-GB" dirty="0" err="1"/>
              <a:t>modeling</a:t>
            </a:r>
            <a:r>
              <a:rPr lang="en-GB" dirty="0"/>
              <a:t> is essential, in order to combine diverse data (molecular, imaging, clinical, environmental) into patient-centric models. </a:t>
            </a:r>
            <a:endParaRPr lang="en-GB" dirty="0" smtClean="0"/>
          </a:p>
          <a:p>
            <a:pPr lvl="0"/>
            <a:r>
              <a:rPr lang="en-GB" b="1" dirty="0" smtClean="0"/>
              <a:t>Clinical </a:t>
            </a:r>
            <a:r>
              <a:rPr lang="en-GB" b="1" dirty="0"/>
              <a:t>diagnosis in integrative medicine</a:t>
            </a:r>
            <a:r>
              <a:rPr lang="en-GB" dirty="0"/>
              <a:t>: A study in China used natural language processing (NLP) and model-based reasoning (MBR) methods combining EMR data (including syndrome pattern diagnosis from traditional Chinese medicine) and modern medicine to produce high accuracy in diagnosing lung diseases. </a:t>
            </a:r>
          </a:p>
          <a:p>
            <a:pPr lvl="0"/>
            <a:r>
              <a:rPr lang="en-GB" b="1" dirty="0" smtClean="0"/>
              <a:t>E-health </a:t>
            </a:r>
            <a:r>
              <a:rPr lang="en-GB" b="1" dirty="0"/>
              <a:t>use and digital divides</a:t>
            </a:r>
            <a:r>
              <a:rPr lang="en-GB" dirty="0"/>
              <a:t>: The integrative model of e-health use examines how social/structural disparities influence individual motivation, ability, and thus usage of online health information. </a:t>
            </a:r>
            <a:endParaRPr lang="en-GB" dirty="0" smtClean="0"/>
          </a:p>
          <a:p>
            <a:pPr lvl="0"/>
            <a:r>
              <a:rPr lang="en-GB" b="1" dirty="0" smtClean="0"/>
              <a:t>Integrative </a:t>
            </a:r>
            <a:r>
              <a:rPr lang="en-GB" b="1" dirty="0"/>
              <a:t>analytic frameworks in cancer precision medicine</a:t>
            </a:r>
            <a:r>
              <a:rPr lang="en-GB" dirty="0"/>
              <a:t>: Several computational frameworks integrate multi-omics data, public cancer data, molecular signatures to stratify patients, identify drug targets, and improve predictions.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46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/ Advantages</a:t>
            </a:r>
            <a:r>
              <a:rPr lang="en-GB" b="1" dirty="0"/>
              <a:t/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 understanding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Combining multiple data types and levels allows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disease or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completely.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predictions and diagnostics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More data and context often boosts accuracy.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Enables tailoring treatments or interventions to individual patient profiles.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Discovery of novel associations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Integration can reveal relationships not visible in single data sources.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research and clinical practice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Moves translational research forward.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291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Limitations</a:t>
            </a:r>
            <a:r>
              <a:rPr lang="en-GB" b="1" dirty="0"/>
              <a:t/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GB" b="1" dirty="0"/>
              <a:t>Heterogeneity of data</a:t>
            </a:r>
            <a:r>
              <a:rPr lang="en-GB" dirty="0"/>
              <a:t>: Different formats, standards, quality; missing or noisy data.</a:t>
            </a:r>
          </a:p>
          <a:p>
            <a:pPr lvl="0"/>
            <a:r>
              <a:rPr lang="en-GB" b="1" dirty="0"/>
              <a:t>Scale and complexity</a:t>
            </a:r>
            <a:r>
              <a:rPr lang="en-GB" dirty="0"/>
              <a:t>: High dimensionality (e.g., omics), computational demands.</a:t>
            </a:r>
          </a:p>
          <a:p>
            <a:pPr lvl="0"/>
            <a:r>
              <a:rPr lang="en-GB" b="1" dirty="0"/>
              <a:t>Interoperability</a:t>
            </a:r>
            <a:r>
              <a:rPr lang="en-GB" dirty="0"/>
              <a:t>: Need for common ontologies, standards, semantic alignment.</a:t>
            </a:r>
          </a:p>
          <a:p>
            <a:pPr lvl="0"/>
            <a:r>
              <a:rPr lang="en-GB" b="1" dirty="0"/>
              <a:t>Validation and generalizability</a:t>
            </a:r>
            <a:r>
              <a:rPr lang="en-GB" dirty="0"/>
              <a:t>: Models may </a:t>
            </a:r>
            <a:r>
              <a:rPr lang="en-GB" dirty="0" err="1"/>
              <a:t>overfit</a:t>
            </a:r>
            <a:r>
              <a:rPr lang="en-GB" dirty="0"/>
              <a:t>; external validation is often limited.</a:t>
            </a:r>
          </a:p>
          <a:p>
            <a:pPr lvl="0"/>
            <a:r>
              <a:rPr lang="en-GB" b="1" dirty="0"/>
              <a:t>Interpretability</a:t>
            </a:r>
            <a:r>
              <a:rPr lang="en-GB" dirty="0"/>
              <a:t>: Complex models (deep learning, network models) can be black boxes, which undermines clinical trust.</a:t>
            </a:r>
          </a:p>
          <a:p>
            <a:pPr lvl="0"/>
            <a:r>
              <a:rPr lang="en-GB" b="1" dirty="0"/>
              <a:t>Ethical/privacy issues</a:t>
            </a:r>
            <a:r>
              <a:rPr lang="en-GB" dirty="0"/>
              <a:t>: Sensitive patient data; ensuring privacy, consent; potential biases.</a:t>
            </a:r>
          </a:p>
          <a:p>
            <a:pPr lvl="0"/>
            <a:r>
              <a:rPr lang="en-GB" b="1" dirty="0"/>
              <a:t>Resource constraints</a:t>
            </a:r>
            <a:r>
              <a:rPr lang="en-GB" dirty="0"/>
              <a:t>: Infrastructure, skilled personnel, cross-disciplinary collaboration.</a:t>
            </a:r>
          </a:p>
          <a:p>
            <a:r>
              <a:rPr lang="en-GB" dirty="0"/>
              <a:t>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0191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Considerations for Designing an Integrative Informatics Model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27112"/>
            <a:ext cx="11729357" cy="5830888"/>
          </a:xfrm>
        </p:spPr>
        <p:txBody>
          <a:bodyPr>
            <a:noAutofit/>
          </a:bodyPr>
          <a:lstStyle/>
          <a:p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successful integrative informatics models, certain design principles and considerations are important: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governance and ethics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Clear policies on data sharing, consent, privacy, and handling bias.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Ensuring that modules for different data types/components can be updated or replaced independently.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Both computational and organizational (e.g., being able to incorporate increasing amounts of data).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</a:t>
            </a:r>
            <a:r>
              <a:rPr lang="en-GB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Engaging clinicians, patients; ensuring outputs are usable; understandable.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 and interoperability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of standard vocabularies, data models (e.g. SNOMED, HL7, etc.), ontologies.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and </a:t>
            </a:r>
            <a:r>
              <a:rPr lang="en-GB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trust and adoption in clinical settings.</a:t>
            </a:r>
          </a:p>
          <a:p>
            <a:pPr lvl="0"/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evaluation and feedback loops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Monitoring performance post-deployment; adapting to new information.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08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 smtClean="0"/>
              <a:t>Limitations in Practice / Barriers to Adoption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5657"/>
            <a:ext cx="10755086" cy="5551714"/>
          </a:xfrm>
        </p:spPr>
        <p:txBody>
          <a:bodyPr>
            <a:normAutofit/>
          </a:bodyPr>
          <a:lstStyle/>
          <a:p>
            <a:pPr lvl="0"/>
            <a:r>
              <a:rPr lang="en-GB" sz="2300" b="1" dirty="0" smtClean="0"/>
              <a:t>Data </a:t>
            </a:r>
            <a:r>
              <a:rPr lang="en-GB" sz="2300" b="1" dirty="0"/>
              <a:t>siloes</a:t>
            </a:r>
            <a:r>
              <a:rPr lang="en-GB" sz="2300" dirty="0"/>
              <a:t>: Many institutions store data in proprietary formats, hindering sharing.</a:t>
            </a:r>
          </a:p>
          <a:p>
            <a:pPr lvl="0"/>
            <a:r>
              <a:rPr lang="en-GB" sz="2300" b="1" dirty="0"/>
              <a:t>Lack of standardization</a:t>
            </a:r>
            <a:r>
              <a:rPr lang="en-GB" sz="2300" dirty="0"/>
              <a:t>: Different terminologies, coding systems.</a:t>
            </a:r>
          </a:p>
          <a:p>
            <a:pPr lvl="0"/>
            <a:r>
              <a:rPr lang="en-GB" sz="2300" b="1" dirty="0"/>
              <a:t>Computational and infrastructure constraints</a:t>
            </a:r>
            <a:r>
              <a:rPr lang="en-GB" sz="2300" dirty="0"/>
              <a:t>, especially in low-resource settings.</a:t>
            </a:r>
          </a:p>
          <a:p>
            <a:pPr lvl="0"/>
            <a:r>
              <a:rPr lang="en-GB" sz="2300" b="1" dirty="0"/>
              <a:t>Regulatory, ethical, and legal hurdles</a:t>
            </a:r>
            <a:r>
              <a:rPr lang="en-GB" sz="2300" dirty="0"/>
              <a:t>: Privacy laws, cross-border data sharing.</a:t>
            </a:r>
          </a:p>
          <a:p>
            <a:pPr lvl="0"/>
            <a:r>
              <a:rPr lang="en-GB" sz="2300" b="1" dirty="0"/>
              <a:t>Resistance to change / trust issues</a:t>
            </a:r>
            <a:r>
              <a:rPr lang="en-GB" sz="2300" dirty="0"/>
              <a:t>: Clinicians may distrust black-box models; patients may have concerns.</a:t>
            </a:r>
          </a:p>
          <a:p>
            <a:pPr lvl="0"/>
            <a:r>
              <a:rPr lang="en-GB" sz="2300" b="1" dirty="0"/>
              <a:t>Bias and representation</a:t>
            </a:r>
            <a:r>
              <a:rPr lang="en-GB" sz="2300" dirty="0"/>
              <a:t>: Models trained on non-diverse populations may not generalize; can perpetuate disparities.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2532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Future Directions</a:t>
            </a:r>
            <a:br>
              <a:rPr lang="en-GB" sz="2400" b="1" dirty="0"/>
            </a:br>
            <a:endParaRPr lang="en-GB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5159829"/>
          </a:xfrm>
        </p:spPr>
        <p:txBody>
          <a:bodyPr>
            <a:normAutofit lnSpcReduction="10000"/>
          </a:bodyPr>
          <a:lstStyle/>
          <a:p>
            <a:pPr lvl="0"/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multimodal integration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Integrating new data types such as wearable sensors, social media, environmental sensors.</a:t>
            </a:r>
          </a:p>
          <a:p>
            <a:pPr lvl="0"/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Causality and mechanistic </a:t>
            </a: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Not just correlations, but understanding causal mechanisms.</a:t>
            </a:r>
          </a:p>
          <a:p>
            <a:pPr lvl="0"/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in health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Bridging performance with interpretability.</a:t>
            </a:r>
          </a:p>
          <a:p>
            <a:pPr lvl="0"/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and dynamic </a:t>
            </a: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Using streaming data, updating models live.</a:t>
            </a:r>
          </a:p>
          <a:p>
            <a:pPr lvl="0"/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Patient-</a:t>
            </a: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participatory </a:t>
            </a:r>
            <a:r>
              <a:rPr lang="en-GB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More involvement of patients, </a:t>
            </a:r>
            <a:r>
              <a:rPr lang="en-GB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lifestyle, feedback loops.</a:t>
            </a:r>
          </a:p>
          <a:p>
            <a:pPr lvl="0"/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and equitable models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Ensuring models work across different populations and geographies; addressing health disparities.</a:t>
            </a:r>
          </a:p>
          <a:p>
            <a:pPr lvl="0"/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&amp; governance frameworks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Standard regulations, best practices for data sharing, privacy, ethics, model validation.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4559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References</a:t>
            </a:r>
            <a:r>
              <a:rPr lang="en-GB" b="1" dirty="0"/>
              <a:t/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0971"/>
            <a:ext cx="10515600" cy="4935992"/>
          </a:xfrm>
        </p:spPr>
        <p:txBody>
          <a:bodyPr>
            <a:normAutofit fontScale="92500" lnSpcReduction="20000"/>
          </a:bodyPr>
          <a:lstStyle/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Bodie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D., Dutta, M. J., &amp;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(2009).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integrative model of e-health use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Handbook of Research on Distributed Medical Informatics and E-Health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(pp. 159-171). IGI Global.</a:t>
            </a: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W., Qin, X., Yang, T., Cong, Z., Wang, Z., Kong, Q., Tang, Z., &amp; Jiang, L. (2020). Model-based reasoning of clinical diagnosis in integrative medicine: Real-world methodological study of electronic medical records and natural language processing methods.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JMIR Medical Informatics, 8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(12), Article e23082. https://doi.org/10.2196/23082 </a:t>
            </a: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Younesi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&amp; Hofmann-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Apitius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(2013). From integrative disease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predictive, preventive, personalized and participatory (P4) medicine.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EPMA Journal, 4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23. https://doi.org/10.1186/1878-5085-4-23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sources: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Data, information and knowledge: the health informatics model and its role in evidence-based medicine. 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n.d.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/ source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Retrieved from PubMed.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612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1046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GROUP NAMES: </vt:lpstr>
      <vt:lpstr>Integrative Informatics Model Definitions and Key Concepts </vt:lpstr>
      <vt:lpstr>Types / Levels of Integration </vt:lpstr>
      <vt:lpstr>Applications Integrative informatics models are being applied in many domains. Here are some examples: </vt:lpstr>
      <vt:lpstr>Benefits / Advantages </vt:lpstr>
      <vt:lpstr>Challenges and Limitations </vt:lpstr>
      <vt:lpstr>Key Considerations for Designing an Integrative Informatics Model </vt:lpstr>
      <vt:lpstr>Limitations in Practice / Barriers to Adoption </vt:lpstr>
      <vt:lpstr>Future Directions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NAMES: MENSAH CHARITY DORCAS ACHEAMPONG AMESRO ADWOA PAULA OSMAN BAMBA AISHATU PRINCE K MENSAH BEATRICE BORTELEY ALAVANYO IRENE OTI KWAW OLIVIA BEATRICE ATSWEI TAWIAH</dc:title>
  <dc:creator>DELL</dc:creator>
  <cp:lastModifiedBy>DELL</cp:lastModifiedBy>
  <cp:revision>5</cp:revision>
  <dcterms:created xsi:type="dcterms:W3CDTF">2025-10-02T08:54:27Z</dcterms:created>
  <dcterms:modified xsi:type="dcterms:W3CDTF">2025-10-02T09:31:56Z</dcterms:modified>
</cp:coreProperties>
</file>